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the full Legal AI Supervisor system built for the Clifford Chance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core problems our system solves: hallucinations, no oversight, and the regulatory compliance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pillars: transparency, supervisor loop, human override, full auditability.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flow: Partner → AI Router → Junior → 4 parallel AI Agents → Supervisor → Senior →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roles: Partner (submits), Junior (drafts), Senior (approves), Dashboard (monitors). AI assists at every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agents: Research, Drafting, Review, Risk. All use NVIDIA Nemotron-Ultra with specialist system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Supervisor loop: dispatch → evaluate → retry (max 3) → escalate. Thresholds: conf≥80%, risk≤20%, no HIGH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modes. Autonomous always requires senior approval — never auto-ships. Mode is auto-detected from action and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for model selection rationale.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Dedicated agents are rigid and closed. Nemotron-Ultra is directed by specialist prompts — best of both worlds.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Nemotron-Ultra: MoE 550B total, ~55B active. We use thinking tokens, structured JSON, streaming, and 3-key round-robin.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stack: NVIDIA Nemotron + FastAPI + asyncio + Streamlit + custom viz.py pipeline visualisation.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4-layer: Streamlit → FastAPI → agents.py → NVIDIA API. Data persisted in JSON. Pipeline viz in viz.py.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live features: token streaming, agent arrows, pipeline viz, per-matter AI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controls: senior gate, reject, mode choice, configurable thresholds. Audit trail labels every action Human or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key innovations: supervisor retry loop, live streaming UI, risk-proportionate modes, pipeline visualisation.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we answer the hackathon theme through 4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2926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" y="2926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 Supervisor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· Risk-Proportionate · Human-Controlled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32004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Clifford Chance Hackathon  ·  How Do We Supervise Legal AI Agents?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05072"/>
            <a:ext cx="2578608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0507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NVIDIA Nemotron-Ultra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4005072"/>
            <a:ext cx="2578608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400507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Law Firm Workflow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4005072"/>
            <a:ext cx="2578608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400507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AI Transparency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78308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" y="2231136"/>
            <a:ext cx="24323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 agents can fabricate case law citations and produce confident-sounding but incorrect advice — catastrophic in legal practice where liability is real.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3552" y="105156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2D1F0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78308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Oversight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231136"/>
            <a:ext cx="24323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AI tools operate as black boxes: no confidence scoring, no risk thresholds, no escalation path, no audit trail. Lawyers bear the risk with no visibility.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35624" y="1051560"/>
            <a:ext cx="2651760" cy="3429000"/>
          </a:xfrm>
          <a:prstGeom prst="roundRect">
            <a:avLst>
              <a:gd name="adj" fmla="val 4138"/>
            </a:avLst>
          </a:prstGeom>
          <a:solidFill>
            <a:srgbClr val="0D1A3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45352" y="178308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Gap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45352" y="2231136"/>
            <a:ext cx="24323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SRA requires lawyers to verify AI outputs. But no standard workflow exists for AI supervision in law firm practice — leaving firms exposed and non-compliant.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The Legal AI Supervisor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risk-proportionate AI supervision framework for law firm workflows — with human controls at every step.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28016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" y="184708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Transparency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2249424"/>
            <a:ext cx="181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shows its reasoning chain, confidence score (0-100%), risk level, and verified citations — visible to every human actor at every stage.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EDE9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8016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184708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249424"/>
            <a:ext cx="181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Supervisor orchestrates all agents, retries on low confidence with feedback, and auto-escalates to senior lawyers when risk thresholds are exceeded.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18872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128016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73168" y="184708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2249424"/>
            <a:ext cx="181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lawyers approve, reject, or modify any AI decision. Partners track every action. Juniors control how much AI involvement they want. Nothing auto-ships.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48856" y="118872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FEF3C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48856" y="128016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40296" y="184708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0296" y="2249424"/>
            <a:ext cx="181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— Human ✋ or AI 🤖 — logged with timestamp, actor type, confidence %, risk %, and citations. Complete SRA-compliant audit trail per matter.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56032" y="804672"/>
            <a:ext cx="1042416" cy="1024128"/>
          </a:xfrm>
          <a:prstGeom prst="roundRect">
            <a:avLst>
              <a:gd name="adj" fmla="val 892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56032" y="8595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Partner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1042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matter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instructions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7592" y="1316736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1887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26464" y="804672"/>
            <a:ext cx="1042416" cy="1024128"/>
          </a:xfrm>
          <a:prstGeom prst="roundRect">
            <a:avLst>
              <a:gd name="adj" fmla="val 892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26464" y="8595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Router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26464" y="1261872"/>
            <a:ext cx="1042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to best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lawyer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78024" y="1316736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1887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96896" y="804672"/>
            <a:ext cx="1042416" cy="1024128"/>
          </a:xfrm>
          <a:prstGeom prst="roundRect">
            <a:avLst>
              <a:gd name="adj" fmla="val 892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96896" y="8595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Junior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96896" y="1261872"/>
            <a:ext cx="1042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mode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writes/edits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48456" y="1316736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11887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67328" y="804672"/>
            <a:ext cx="1042416" cy="1024128"/>
          </a:xfrm>
          <a:prstGeom prst="roundRect">
            <a:avLst>
              <a:gd name="adj" fmla="val 892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67328" y="8595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AI Agents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67328" y="1261872"/>
            <a:ext cx="1042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run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18888" y="1316736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11887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804672"/>
            <a:ext cx="1042416" cy="1024128"/>
          </a:xfrm>
          <a:prstGeom prst="roundRect">
            <a:avLst>
              <a:gd name="adj" fmla="val 8929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8595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Supervisor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1261872"/>
            <a:ext cx="1042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decision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1316736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11887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08192" y="804672"/>
            <a:ext cx="1042416" cy="1024128"/>
          </a:xfrm>
          <a:prstGeom prst="roundRect">
            <a:avLst>
              <a:gd name="adj" fmla="val 892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08192" y="8595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Senior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08192" y="1261872"/>
            <a:ext cx="1042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+ notes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59752" y="1316736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1188720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78624" y="804672"/>
            <a:ext cx="1042416" cy="1024128"/>
          </a:xfrm>
          <a:prstGeom prst="roundRect">
            <a:avLst>
              <a:gd name="adj" fmla="val 892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78624" y="8595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78624" y="1261872"/>
            <a:ext cx="1042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logged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7472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Partner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71600" y="199339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client instructions via Partner View. Sets matter type, priority, and team.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7472" y="2670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 Router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71600" y="26700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matter, picks the best junior based on specialisation. Returns structured JSON with reasoning.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" y="3346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Junior Lawyer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71600" y="334670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matter + instructions. Chooses Manual / Hybrid / Autonomous mode via card UI.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7472" y="4023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AI Agents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71600" y="40233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Drafting, Review, Risk Analysis run in parallel. Each returns JSON with confidence + flags.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12080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AI Supervisor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63640" y="1993392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all agent results. Checks thresholds. Retries if needed. Escalates HIGH-risk to senior.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212080" y="2743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Senior Lawyer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63640" y="2743200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AI summary, all HIGH flags, and citations. Approves or rejects with written decision.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12080" y="34930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Dashboard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63640" y="3493008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— Human ✋ or AI 🤖 — with timestamp, confidence, risk, and citations.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Architecture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56032" y="777240"/>
            <a:ext cx="2029968" cy="4160520"/>
          </a:xfrm>
          <a:prstGeom prst="roundRect">
            <a:avLst>
              <a:gd name="adj" fmla="val 5405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56032" y="850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134416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6733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 / David Okafor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965960"/>
            <a:ext cx="1847088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048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client matters + detailed instructions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25328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matter type, urgency, and team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3017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all matters via real-time pipeline viz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35021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trail: every AI + human action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0592" y="777240"/>
            <a:ext cx="2029968" cy="4160520"/>
          </a:xfrm>
          <a:prstGeom prst="roundRect">
            <a:avLst>
              <a:gd name="adj" fmla="val 5405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850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42032" y="134416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Lawyer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16733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Patel / Tom Davies / Aisha Mensah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2032" y="1965960"/>
            <a:ext cx="1847088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048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routed matters with partner instructions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42032" y="25328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Choose work mode: Manual / Hybrid / Autonomous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42032" y="3017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chat assistant scoped per matter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42032" y="35021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draft for AI Supervisor review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45152" y="777240"/>
            <a:ext cx="2029968" cy="4160520"/>
          </a:xfrm>
          <a:prstGeom prst="roundRect">
            <a:avLst>
              <a:gd name="adj" fmla="val 5405"/>
            </a:avLst>
          </a:prstGeom>
          <a:solidFill>
            <a:srgbClr val="EDE9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45152" y="850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36592" y="134416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Lawyer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36592" y="16733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Wright / Meera Nair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36592" y="1965960"/>
            <a:ext cx="1847088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048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AI-summarised flags and risk scores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25328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 all HIGH flags and verified citations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36592" y="3017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or reject with written decision notes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6592" y="35021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 back to junior if redraft is required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39712" y="777240"/>
            <a:ext cx="2029968" cy="4160520"/>
          </a:xfrm>
          <a:prstGeom prst="roundRect">
            <a:avLst>
              <a:gd name="adj" fmla="val 5405"/>
            </a:avLst>
          </a:prstGeom>
          <a:solidFill>
            <a:srgbClr val="FEF3C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39712" y="850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31152" y="134416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31152" y="16733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Firm-wide visibility layer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31152" y="1965960"/>
            <a:ext cx="1847088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2048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pipeline view per active matter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31152" y="25328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✋ vs AI 🤖 labels throughout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31152" y="3017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 %, risk %, HIGH flags at a glance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31152" y="35021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document + audit trail per matter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AI Specialist Agents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 in parallel · Each returns structured JSON: output · confidence · risk · citations · flags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24528" cy="1737360"/>
          </a:xfrm>
          <a:prstGeom prst="roundRect">
            <a:avLst>
              <a:gd name="adj" fmla="val 5263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61288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4356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UK case law, statutes, and legal principles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746504"/>
            <a:ext cx="4005072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6479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fabricate citations — mark as 'citation unverified'"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08483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Relevant precedent cases    ✓ Applicable statutes (UCTA, GDPR)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30428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Jurisdiction gaps flagged    ✓ Unverified citations marked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36592" y="1051560"/>
            <a:ext cx="4224528" cy="1737360"/>
          </a:xfrm>
          <a:prstGeom prst="roundRect">
            <a:avLst>
              <a:gd name="adj" fmla="val 5263"/>
            </a:avLst>
          </a:prstGeom>
          <a:solidFill>
            <a:srgbClr val="FAF5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161288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Agent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4356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precise contract clauses and legal language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746504"/>
            <a:ext cx="4005072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76479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"Flag every assumption a lawyer must verify"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208483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Professional legal text    ✓ Jurisdiction-specific clauses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230428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assumptions flagged    ✓ Redraft-ready output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944368"/>
            <a:ext cx="4224528" cy="1737360"/>
          </a:xfrm>
          <a:prstGeom prst="roundRect">
            <a:avLst>
              <a:gd name="adj" fmla="val 5263"/>
            </a:avLst>
          </a:prstGeom>
          <a:solidFill>
            <a:srgbClr val="FEF3C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054096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3284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documents for errors, gaps, compliance issues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3639312"/>
            <a:ext cx="4005072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65760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give clean bill of health unless genuinely confident"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397764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Issue list with severity    ✓ HIGH / MEDIUM / LOW flags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19709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Clause-level analysis    ✓ Compliance gap identification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36592" y="2944368"/>
            <a:ext cx="4224528" cy="1737360"/>
          </a:xfrm>
          <a:prstGeom prst="roundRect">
            <a:avLst>
              <a:gd name="adj" fmla="val 5263"/>
            </a:avLst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054096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3284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classifies legal risks with legal backing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639312"/>
            <a:ext cx="4005072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65760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risk MUST be backed by statute, case law, or principle"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397764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Risk register with legal basis    ✓ Statutory / case references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419709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UNVERIFIED risks flagged    ✓ Over-flagging preferred to missing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Supervisor: The Quality Gate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749808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7498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SUPERVISOR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3291840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019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Specialist 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6112" y="2944368"/>
            <a:ext cx="3145536" cy="658368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944368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Conf ≥ 80%  &amp;  Risk ≤ 20%  &amp;  No HIGH flags?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435608"/>
            <a:ext cx="0" cy="466344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5773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68880" y="2560320"/>
            <a:ext cx="0" cy="38404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660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41648" y="3273552"/>
            <a:ext cx="6858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3072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27448" y="2944368"/>
            <a:ext cx="1719072" cy="658368"/>
          </a:xfrm>
          <a:prstGeom prst="roundRect">
            <a:avLst>
              <a:gd name="adj" fmla="val 1388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27448" y="294436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ACCEPTED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3602736"/>
            <a:ext cx="0" cy="32918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657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977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Retry with feedback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3 attempts)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95728" y="3977640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95728" y="397764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Escalate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Lawyer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749808"/>
            <a:ext cx="3840480" cy="397764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0" y="850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Thresholds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0" y="1243584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280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minimum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1280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1673352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1709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maximum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1709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10312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139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flags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2139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auto-escalate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2532888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5694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25694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attempts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2962656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2999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Post-max action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29992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human review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JSON output structure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3712464"/>
            <a:ext cx="3566160" cy="877824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3749040"/>
            <a:ext cx="34198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{"output":"...", "confidence": 85,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"risk": 40, "citations": [...],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"flags": ["HIGH - ...","MEDIUM - ..."]}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 Modes for Junior Lawyers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chooses the level of AI involvement — AI auto-detects and logs the mode in the audit trail.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01752" y="1051560"/>
            <a:ext cx="2743200" cy="3767328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" y="1124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6184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writes, AI reviews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258568"/>
            <a:ext cx="2523744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31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Junior writes draft independently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67919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Submits to AI Supervisor on completion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02666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Supervisor runs Review + Risk agents only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37413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Senior sees AI flags and approves or rejects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4178808"/>
            <a:ext cx="2523744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1788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AI: Review &amp; Risk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743200" cy="376732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1124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55848" y="16184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55848" y="19659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starts, human refines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55848" y="2258568"/>
            <a:ext cx="2523744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331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Junior clicks 'Generate AI Draft'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55848" y="267919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Drafting agent creates initial text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5848" y="302666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Junior edits draft in text area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55848" y="337413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refined draft for supervisor review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55848" y="4178808"/>
            <a:ext cx="2523744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41788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AI: Draft + Review + Risk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90488" y="1051560"/>
            <a:ext cx="2743200" cy="3767328"/>
          </a:xfrm>
          <a:prstGeom prst="roundRect">
            <a:avLst>
              <a:gd name="adj" fmla="val 4000"/>
            </a:avLst>
          </a:prstGeom>
          <a:solidFill>
            <a:srgbClr val="FAF5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90488" y="1124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300216" y="16184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Mode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0216" y="19659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everything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0216" y="2258568"/>
            <a:ext cx="2523744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2331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Junior clicks 'Let AI Handle It All'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0216" y="267919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All 4 agents run in parallel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0216" y="302666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Supervisor aggregates and summarises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0216" y="337413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Always escalates to senior — never auto-approved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0216" y="4178808"/>
            <a:ext cx="2523744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41788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AI: All 4 agents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447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NVIDIA Nemotron-Ultra?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NOT dedicated legal AI agents?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0" y="3310128"/>
            <a:ext cx="1865376" cy="1325880"/>
          </a:xfrm>
          <a:prstGeom prst="roundRect">
            <a:avLst>
              <a:gd name="adj" fmla="val 689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33832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396849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50208" y="3310128"/>
            <a:ext cx="1865376" cy="1325880"/>
          </a:xfrm>
          <a:prstGeom prst="roundRect">
            <a:avLst>
              <a:gd name="adj" fmla="val 689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0208" y="33832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50208" y="396849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54496" y="3310128"/>
            <a:ext cx="1865376" cy="1325880"/>
          </a:xfrm>
          <a:prstGeom prst="roundRect">
            <a:avLst>
              <a:gd name="adj" fmla="val 689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33832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54496" y="396849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Built-in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Legal AI vs. Generalised LLM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749808"/>
            <a:ext cx="3950208" cy="4160520"/>
          </a:xfrm>
          <a:prstGeom prst="roundRect">
            <a:avLst>
              <a:gd name="adj" fmla="val 2778"/>
            </a:avLst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841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Dedicated Legal AI Agents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Harvey AI, CoCounsel, Clio Duo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1536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Tailored to legal templates only — rigid scope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" y="19019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Pre-set workflows, hard to customise for hackathon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22677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Closed-source — no reasoning chain visibility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2633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real-time token streaming available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999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Expensive API costs ($$$) per query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33649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expose confidence / risk scores natively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730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open-weight — no self-hosting for demos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40965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designed for multi-agent supervisor loops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160520" cy="4160520"/>
          </a:xfrm>
          <a:prstGeom prst="roundRect">
            <a:avLst>
              <a:gd name="adj" fmla="val 2637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8412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NVIDIA Nemotron-Ultra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2070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nvidia/nemotron-3-ultra-550b-a55b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5361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across ALL agent types with role prompts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190195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 prompts make it a specialist on demand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2677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Streams thinking tokens (reasoning_content)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6334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JSON: confidence, risk, citations, flags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9992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Open-weight via NVIDIA API — hackathon-friendly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3649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streaming powers live agent UI demo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373075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model = consistent quality across all agents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40965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550B parameters = deep legal domain knowledge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Nemotron-Ultra: Technical Details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777240"/>
            <a:ext cx="4892040" cy="4160520"/>
          </a:xfrm>
          <a:prstGeom prst="roundRect">
            <a:avLst>
              <a:gd name="adj" fmla="val 2637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8686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1243584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61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49424" y="126187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nvidia/nemotron-3-ultra-550b-a55b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" y="1581912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9424" y="1600200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Billion (Mixture-of-Experts)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920240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per Token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9424" y="19385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~55B — efficient inference via MoE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258568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76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49424" y="227685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integrate.api.nvidia.com/v1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2596896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615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9424" y="2615184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(drop-in SDK)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2935224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953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9424" y="295351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enable_thinking: True  +  reasoning_budget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" y="3273552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49424" y="3291840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stream=True  →  token-by-token SSE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" y="3611880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Pool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49424" y="363016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3-key round-robin via _get_client()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" y="3950208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9684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49424" y="396849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22392" y="777240"/>
            <a:ext cx="3383280" cy="4160520"/>
          </a:xfrm>
          <a:prstGeom prst="roundRect">
            <a:avLst>
              <a:gd name="adj" fmla="val 3243"/>
            </a:avLst>
          </a:prstGeom>
          <a:solidFill>
            <a:srgbClr val="EDE9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59552" y="868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59552" y="1243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59552" y="149961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reasoning_content gives the model's internal thinking chain — shown to lawyers for transparency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59552" y="1975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Prompts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59552" y="223113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different system prompts = 4 specialists. No fine-tuning required.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59552" y="2706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59552" y="29626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Instructed to return only valid JSON with confidence, risk, citations, flag severity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59552" y="3438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59552" y="36941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stream=True yields tokens as they generate — powers the live agent communication home page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59552" y="4169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Pool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59552" y="44256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_get_client() rotates 3 API keys so parallel agents each use a different key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 Stack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01752" y="777240"/>
            <a:ext cx="4224528" cy="1938528"/>
          </a:xfrm>
          <a:prstGeom prst="roundRect">
            <a:avLst>
              <a:gd name="adj" fmla="val 4717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6868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Model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2070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Nemotron-Ultra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65960" y="12070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LLM for all 4 agents, supervisor, and AI router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nvidia-openai SDK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65960" y="15544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client with streaming and thinking tokens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reasoning_content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19019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 expose internal chain-of-thought to lawyers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3-key round-robin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224942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_get_client() distributes parallel calls across API keys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64024" y="777240"/>
            <a:ext cx="4224528" cy="1938528"/>
          </a:xfrm>
          <a:prstGeom prst="roundRect">
            <a:avLst>
              <a:gd name="adj" fmla="val 4717"/>
            </a:avLst>
          </a:prstGeom>
          <a:solidFill>
            <a:srgbClr val="EDE9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86868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Orchestration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2070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28232" y="12070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with Pydantic models, async endpoints, validation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73752" y="15544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28232" y="15544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 execution — all 4 agents truly concurrent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73752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store.py + matters.json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28232" y="19019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JSON file-based matter database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3752" y="22494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28232" y="224942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management via .env file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1752" y="2898648"/>
            <a:ext cx="4224528" cy="1938528"/>
          </a:xfrm>
          <a:prstGeom prst="roundRect">
            <a:avLst>
              <a:gd name="adj" fmla="val 4717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29900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3284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33284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app: Partner, Junior, Senior, Dashboard, Live Demo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6758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streamlit.components.v1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367588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self-contained animated HTML pipeline viz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0233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st.empty() streaming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65960" y="40233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updated token-by-token for live agent output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370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+ Light theme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43708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cards, pills, badges for every role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64024" y="2898648"/>
            <a:ext cx="4224528" cy="1938528"/>
          </a:xfrm>
          <a:prstGeom prst="roundRect">
            <a:avLst>
              <a:gd name="adj" fmla="val 4717"/>
            </a:avLst>
          </a:prstGeom>
          <a:solidFill>
            <a:srgbClr val="FEF3C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73752" y="29900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Audit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73752" y="33284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viz.py (custom)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28232" y="33284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build_matter_flow_html() — animated HTML pipeline per matter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73752" y="36758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@keyframes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28232" y="367588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+ fadein animations for live pipeline feel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73752" y="40233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nodes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28232" y="40233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Green=Human, Blue=AI, Purple=Supervisor, Red=Escalate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73752" y="4370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risk pills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28232" y="43708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≥70% / Amber ≥50% / Red &lt;50% — colour-coded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850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Streamlit Frontend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" y="1161288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· 1_Partner.py · 2_Junior.py · 3_Senior.py · 4_Dashboard.py · viz.py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572000" y="1527048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3984" y="158191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673352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EDE9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46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FastAPI Backend (api.py)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057400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/matters/submit  ·  GET /matters  ·  POST /generate_draft  ·  POST /autonomous  ·  POST /chat  ·  PUT /decision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0" y="2423160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247802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69464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642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agents.py — Supervisor + 4 Agents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953512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run_supervised_task()  ·  route_matter()  ·  _call_agent()  ·  _get_client() [3-key round-robin]  ·  log_event()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0" y="3319272"/>
            <a:ext cx="0" cy="14630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337413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465576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FEF3C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38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NVIDIA API (integrate.api.nvidia.com/v1)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849624"/>
            <a:ext cx="8193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nvidia/nemotron-3-ultra-550b-a55b  ·  enable_thinking: True  ·  reasoning_budget: 4096  ·  stream: True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20040" y="4544568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457200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store.py + matters.json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486460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database — all matters, actions, AI outputs, decisions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4544568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457200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viz.py pipeline gen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81728" y="486460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build_matter_flow_html() → animated HTML per matter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Features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01752" y="777240"/>
            <a:ext cx="4224528" cy="1965960"/>
          </a:xfrm>
          <a:prstGeom prst="roundRect">
            <a:avLst>
              <a:gd name="adj" fmla="val 4651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6868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Real-Time Agent Streaming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shows token-by-token output from each agent live. You watch NVIDIA Nemotron-Ultra 'think and write' in real time using stream=True and st.empty() placeholders updated on every token.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118104" y="12344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stream_agent_live() yields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from NVIDIA SSE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64024" y="777240"/>
            <a:ext cx="4224528" cy="1965960"/>
          </a:xfrm>
          <a:prstGeom prst="roundRect">
            <a:avLst>
              <a:gd name="adj" fmla="val 4651"/>
            </a:avLst>
          </a:prstGeom>
          <a:solidFill>
            <a:srgbClr val="EDE9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73752" y="86868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Agent Communication Arrows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73752" y="123444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each agent's output, direction arrows appear: '🧠 Supervisor → 🔍 Research: sending…' then '🔍 Research → 🧠 Supervisor: complete · conf 82% · risk 45%'. Visible inter-agent communication.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0376" y="12344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3258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send_placeholder updated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+ after each agent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1752" y="2926080"/>
            <a:ext cx="4224528" cy="1965960"/>
          </a:xfrm>
          <a:prstGeom prst="roundRect">
            <a:avLst>
              <a:gd name="adj" fmla="val 4651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01752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Pipeline Visualisation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matter has an animated HTML pipeline showing the full flow — Partner, Router, Junior, 4 parallel agents side-by-side, Supervisor decision, Escalation flags, Senior approval — all with live confidence pills.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18104" y="338328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3474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build_matter_flow_html()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components.html() embed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64024" y="2926080"/>
            <a:ext cx="4224528" cy="1965960"/>
          </a:xfrm>
          <a:prstGeom prst="roundRect">
            <a:avLst>
              <a:gd name="adj" fmla="val 4651"/>
            </a:avLst>
          </a:prstGeom>
          <a:solidFill>
            <a:srgbClr val="FEF3C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73752" y="301752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Per-Matter AI Chat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junior has a scoped AI chat for their specific matter. The assistant has full matter context (client, instructions, prior review) as its system prompt. Last 10 turns sent as conversation history.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0376" y="338328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3474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/matters/chat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matter as system prompt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Control &amp; Full Auditability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is reversible. Every action is logged. Lawyers stay in control.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Human Override Controls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Approval Gate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completes without senior lawyer sign-off — always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+ Feedback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rejects draft and sends notes back to junior for redraft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163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chooses Manual/Hybrid/Autonomous — always their decision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284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Conf/risk thresholds adjustable per matter and client sensitivity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6027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Auto-Ship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mode ALWAYS goes to senior — no auto-completion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Visibility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525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sees every action and can intervene at any stage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1430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Trail: Every Action Logged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554480"/>
            <a:ext cx="3886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3752" y="162763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627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577840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submitted instructions for Nexus Ltd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048256"/>
            <a:ext cx="3886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2121408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121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77840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assigned Priya Patel (junior_1)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2542032"/>
            <a:ext cx="3886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3752" y="2615184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6151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2615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selected Hybrid mode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035808"/>
            <a:ext cx="3886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73752" y="31089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57784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6 HIGH flags, risk 80%, conf 85%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3529584"/>
            <a:ext cx="3886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602736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602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577840" y="3602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senior — threshold exceeded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4023360"/>
            <a:ext cx="38862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73752" y="409651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4096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577840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Wright approved — UCTA analysis sound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47472" y="960120"/>
            <a:ext cx="4224528" cy="1755648"/>
          </a:xfrm>
          <a:prstGeom prst="roundRect">
            <a:avLst>
              <a:gd name="adj" fmla="val 625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42416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4533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Retry Loop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one-shot AI. If confidence &lt;80% or risk &gt;20%, the supervisor sends structured feedback and retries up to 3 times before escalating. No current legal AI tool does this.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9744" y="960120"/>
            <a:ext cx="4224528" cy="1755648"/>
          </a:xfrm>
          <a:prstGeom prst="roundRect">
            <a:avLst>
              <a:gd name="adj" fmla="val 625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051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0468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19472" y="154533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Token Streaming 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874520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shows actual token-by-token inter-agent communication — not a simulation. You watch Nemotron-Ultra think in real time with supervisor↔agent direction arrows.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898648"/>
            <a:ext cx="4224528" cy="1755648"/>
          </a:xfrm>
          <a:prstGeom prst="roundRect">
            <a:avLst>
              <a:gd name="adj" fmla="val 625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0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42416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34838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Risk-Proportionate Modes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13048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system adapts: manual for low-risk, hybrid assistance for complex clauses, or fully autonomous for initial analysis — all with complete audit logging of the mode chosen.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9744" y="2898648"/>
            <a:ext cx="4224528" cy="1755648"/>
          </a:xfrm>
          <a:prstGeom prst="roundRect">
            <a:avLst>
              <a:gd name="adj" fmla="val 625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990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0468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19472" y="34838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Pipeline Viz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3813048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build_matter_flow_html() generates a fully animated, self-contained HTML pipeline for any matter — showing every node (Human/AI), confidence pills, HIGH flags, and citations.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 Supervisor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hackathon question: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We Supervise Legal AI Agents?"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560320"/>
            <a:ext cx="3758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By building an AI Supervisor that enforces confidence &amp; risk thresholds automatically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256032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8888" y="2560320"/>
            <a:ext cx="3758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By giving lawyers full override at every stage — no AI action is irreversible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00400"/>
            <a:ext cx="3758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By logging every AI and human action with full transparency and SRA-compliant audit trail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20040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3200400"/>
            <a:ext cx="3758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By showing AI agent communication live in the UI — absolutely no black boxes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Nemotron-Ultra 550B  ·  FastAPI  ·  Streamlit  ·  Clifford Chance Hackathon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AI Supervisor — Clifford Chance Hackathon</dc:title>
  <dc:subject>PptxGenJS Presentation</dc:subject>
  <dc:creator>Legal AI Supervisor</dc:creator>
  <cp:lastModifiedBy>Legal AI Supervisor</cp:lastModifiedBy>
  <cp:revision>1</cp:revision>
  <dcterms:created xsi:type="dcterms:W3CDTF">2026-06-27T15:34:45Z</dcterms:created>
  <dcterms:modified xsi:type="dcterms:W3CDTF">2026-06-27T15:34:45Z</dcterms:modified>
</cp:coreProperties>
</file>